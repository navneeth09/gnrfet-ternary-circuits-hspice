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  <p:sldMasterId id="2147483663" r:id="rId2"/>
    <p:sldMasterId id="2147483664" r:id="rId3"/>
  </p:sldMasterIdLst>
  <p:notesMasterIdLst>
    <p:notesMasterId r:id="rId17"/>
  </p:notesMasterIdLst>
  <p:sldIdLst>
    <p:sldId id="256" r:id="rId4"/>
    <p:sldId id="257" r:id="rId5"/>
    <p:sldId id="261" r:id="rId6"/>
    <p:sldId id="259" r:id="rId7"/>
    <p:sldId id="260" r:id="rId8"/>
    <p:sldId id="262" r:id="rId9"/>
    <p:sldId id="263" r:id="rId10"/>
    <p:sldId id="268" r:id="rId11"/>
    <p:sldId id="271" r:id="rId12"/>
    <p:sldId id="269" r:id="rId13"/>
    <p:sldId id="270" r:id="rId14"/>
    <p:sldId id="264" r:id="rId15"/>
    <p:sldId id="26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F62EFA-E7D3-4AEC-B6D9-3FF15D15D3ED}">
  <a:tblStyle styleId="{02F62EFA-E7D3-4AEC-B6D9-3FF15D15D3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607523128757835E-2"/>
          <c:y val="0.23214485543958169"/>
          <c:w val="0.812829829117105"/>
          <c:h val="0.660770565016582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(GNRFET)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dLbl>
              <c:idx val="0"/>
              <c:layout>
                <c:manualLayout>
                  <c:x val="1.682198524857596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15.8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553-4864-9548-315A7B4CFE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7.9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553-4864-9548-315A7B4CFE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15.9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553-4864-9548-315A7B4CFEB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19.9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553-4864-9548-315A7B4CFEB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20.1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553-4864-9548-315A7B4CFEB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STI</c:v>
                </c:pt>
                <c:pt idx="1">
                  <c:v>PTI</c:v>
                </c:pt>
                <c:pt idx="2">
                  <c:v>NTI</c:v>
                </c:pt>
                <c:pt idx="3">
                  <c:v>TNAND</c:v>
                </c:pt>
                <c:pt idx="4">
                  <c:v>TNOR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15.88</c:v>
                </c:pt>
                <c:pt idx="1">
                  <c:v>7.96</c:v>
                </c:pt>
                <c:pt idx="2">
                  <c:v>15.9</c:v>
                </c:pt>
                <c:pt idx="3">
                  <c:v>19.940000000000001</c:v>
                </c:pt>
                <c:pt idx="4">
                  <c:v>20.170000000000002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53-4864-9548-315A7B4CFE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(This Work)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STI</c:v>
                </c:pt>
                <c:pt idx="1">
                  <c:v>PTI</c:v>
                </c:pt>
                <c:pt idx="2">
                  <c:v>NTI</c:v>
                </c:pt>
                <c:pt idx="3">
                  <c:v>TNAND</c:v>
                </c:pt>
                <c:pt idx="4">
                  <c:v>TNOR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16.09</c:v>
                </c:pt>
                <c:pt idx="1">
                  <c:v>8.2799999999999994</c:v>
                </c:pt>
                <c:pt idx="2">
                  <c:v>16.29</c:v>
                </c:pt>
                <c:pt idx="3">
                  <c:v>20.29</c:v>
                </c:pt>
                <c:pt idx="4">
                  <c:v>20.64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53-4864-9548-315A7B4CFE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Reference (CNTFET)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STI</c:v>
                </c:pt>
                <c:pt idx="1">
                  <c:v>PTI</c:v>
                </c:pt>
                <c:pt idx="2">
                  <c:v>NTI</c:v>
                </c:pt>
                <c:pt idx="3">
                  <c:v>TNAND</c:v>
                </c:pt>
                <c:pt idx="4">
                  <c:v>TNOR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27.1</c:v>
                </c:pt>
                <c:pt idx="1">
                  <c:v>13.6</c:v>
                </c:pt>
                <c:pt idx="2">
                  <c:v>27.18</c:v>
                </c:pt>
                <c:pt idx="3">
                  <c:v>34.1</c:v>
                </c:pt>
                <c:pt idx="4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53-4864-9548-315A7B4CFE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D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Propagation Delay (ps)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13425382997338"/>
          <c:y val="0.1388888888888889"/>
          <c:w val="0.58776409597736456"/>
          <c:h val="5.8678966001342855E-2"/>
        </c:manualLayout>
      </c:layout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b7416725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d9b741672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b741672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9" name="Google Shape;99;g3d9b7416725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3d9b7416725_0_12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b7416725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d9b741672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b7416725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9b7416725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b7416725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b7416725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b741672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9b741672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b7416725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9b7416725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B79F00D-5829-D342-CCF1-A0F840B1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b7416725_0_285:notes">
            <a:extLst>
              <a:ext uri="{FF2B5EF4-FFF2-40B4-BE49-F238E27FC236}">
                <a16:creationId xmlns:a16="http://schemas.microsoft.com/office/drawing/2014/main" id="{69DB2F54-8D2A-37B8-4BC3-8D24D245A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9b7416725_0_285:notes">
            <a:extLst>
              <a:ext uri="{FF2B5EF4-FFF2-40B4-BE49-F238E27FC236}">
                <a16:creationId xmlns:a16="http://schemas.microsoft.com/office/drawing/2014/main" id="{64FDEECC-E8A2-EFDA-456C-588BB8113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002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0183143B-6CB9-599F-A1F3-E62E8A4D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b7416725_0_285:notes">
            <a:extLst>
              <a:ext uri="{FF2B5EF4-FFF2-40B4-BE49-F238E27FC236}">
                <a16:creationId xmlns:a16="http://schemas.microsoft.com/office/drawing/2014/main" id="{C7FDCDCE-B57B-230F-B304-EAEC6FB85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9b7416725_0_285:notes">
            <a:extLst>
              <a:ext uri="{FF2B5EF4-FFF2-40B4-BE49-F238E27FC236}">
                <a16:creationId xmlns:a16="http://schemas.microsoft.com/office/drawing/2014/main" id="{B5277146-02CF-95C5-6832-368F40875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79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9B70F80F-0BE1-8450-61DE-81B14792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b7416725_0_245:notes">
            <a:extLst>
              <a:ext uri="{FF2B5EF4-FFF2-40B4-BE49-F238E27FC236}">
                <a16:creationId xmlns:a16="http://schemas.microsoft.com/office/drawing/2014/main" id="{E88FF2FF-BB1B-13D7-2BC1-6B56ECA08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9b7416725_0_245:notes">
            <a:extLst>
              <a:ext uri="{FF2B5EF4-FFF2-40B4-BE49-F238E27FC236}">
                <a16:creationId xmlns:a16="http://schemas.microsoft.com/office/drawing/2014/main" id="{B5FC1958-5BD2-3352-27D7-66F4D4EAA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292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9E0E0D36-494E-BA63-E164-D97AB9D0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b7416725_0_245:notes">
            <a:extLst>
              <a:ext uri="{FF2B5EF4-FFF2-40B4-BE49-F238E27FC236}">
                <a16:creationId xmlns:a16="http://schemas.microsoft.com/office/drawing/2014/main" id="{E83EE1E0-3E3F-5E5E-A24D-3ED813C7C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9b7416725_0_245:notes">
            <a:extLst>
              <a:ext uri="{FF2B5EF4-FFF2-40B4-BE49-F238E27FC236}">
                <a16:creationId xmlns:a16="http://schemas.microsoft.com/office/drawing/2014/main" id="{032E6152-414E-80AE-15D4-0A63C171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377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b7416725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9b7416725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b741672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9b741672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" y="2632472"/>
            <a:ext cx="9144000" cy="759000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"/>
              <a:buNone/>
              <a:defRPr sz="10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451624" y="2840960"/>
            <a:ext cx="4834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C2577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1" y="2632472"/>
            <a:ext cx="9144000" cy="759000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"/>
              <a:buNone/>
              <a:defRPr sz="10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2"/>
          </p:nvPr>
        </p:nvSpPr>
        <p:spPr>
          <a:xfrm>
            <a:off x="451624" y="2840960"/>
            <a:ext cx="4834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C2577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  <a:defRPr>
                <a:solidFill>
                  <a:srgbClr val="0020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500"/>
              <a:buChar char="•"/>
              <a:defRPr>
                <a:solidFill>
                  <a:srgbClr val="002060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0" y="4849415"/>
            <a:ext cx="9144000" cy="303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txBody>
          <a:bodyPr spcFirstLastPara="1" wrap="square" lIns="51400" tIns="25700" rIns="51400" bIns="2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7663" y="172640"/>
            <a:ext cx="1095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0" y="0"/>
            <a:ext cx="9144000" cy="26325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2577"/>
              </a:buClr>
              <a:buSzPts val="100"/>
              <a:buFont typeface="Georgia"/>
              <a:buNone/>
            </a:pPr>
            <a:r>
              <a:rPr lang="en" sz="100" b="0" i="0" u="none" strike="noStrike" cap="none">
                <a:solidFill>
                  <a:srgbClr val="0C2577"/>
                </a:solidFill>
                <a:latin typeface="Georgia"/>
                <a:ea typeface="Georgia"/>
                <a:cs typeface="Georgia"/>
                <a:sym typeface="Georgia"/>
              </a:rPr>
              <a:t>..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09" y="3639740"/>
            <a:ext cx="9334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214438" y="3759994"/>
            <a:ext cx="4169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8A"/>
              </a:buClr>
              <a:buSzPts val="1400"/>
              <a:buFont typeface="Georgia"/>
              <a:buNone/>
            </a:pPr>
            <a:r>
              <a:rPr lang="en" sz="1400" b="1" i="0" u="none" strike="noStrike" cap="none">
                <a:solidFill>
                  <a:srgbClr val="23298A"/>
                </a:solidFill>
                <a:latin typeface="Georgia"/>
                <a:ea typeface="Georgia"/>
                <a:cs typeface="Georgia"/>
                <a:sym typeface="Georgia"/>
              </a:rPr>
              <a:t>Dr. Shyama Prasad Mukherjee International Institute of Information Technology, Naya Raipur 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280547" y="2840831"/>
            <a:ext cx="237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None/>
            </a:pPr>
            <a:r>
              <a:rPr lang="en" sz="15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0" y="4849415"/>
            <a:ext cx="9144000" cy="303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txBody>
          <a:bodyPr spcFirstLastPara="1" wrap="square" lIns="51400" tIns="25700" rIns="51400" bIns="2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7663" y="172640"/>
            <a:ext cx="1095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0" y="2505871"/>
            <a:ext cx="9144000" cy="885000"/>
          </a:xfrm>
          <a:prstGeom prst="rect">
            <a:avLst/>
          </a:prstGeom>
          <a:solidFill>
            <a:srgbClr val="8592BC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"/>
              <a:buNone/>
            </a:pPr>
            <a:endParaRPr sz="100" dirty="0">
              <a:solidFill>
                <a:schemeClr val="lt2"/>
              </a:solidFill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769575" y="510550"/>
            <a:ext cx="7479900" cy="1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of Energy Efficient Ternary Logic Circuit Using GNRFETs 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2"/>
          </p:nvPr>
        </p:nvSpPr>
        <p:spPr>
          <a:xfrm>
            <a:off x="552019" y="2612756"/>
            <a:ext cx="3498900" cy="628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lnSpc>
                <a:spcPct val="70000"/>
              </a:lnSpc>
              <a:spcBef>
                <a:spcPts val="0"/>
              </a:spcBef>
              <a:buSzPts val="1000"/>
            </a:pPr>
            <a:r>
              <a:rPr lang="en-IN" sz="1500" dirty="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IN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Navneeth</a:t>
            </a:r>
            <a:r>
              <a:rPr lang="en-IN" sz="1500" dirty="0">
                <a:latin typeface="Times New Roman"/>
                <a:ea typeface="Times New Roman"/>
                <a:cs typeface="Times New Roman"/>
                <a:sym typeface="Times New Roman"/>
              </a:rPr>
              <a:t>   -  231010225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lang="en"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 dirty="0">
                <a:latin typeface="Times New Roman"/>
                <a:ea typeface="Times New Roman"/>
                <a:cs typeface="Times New Roman"/>
                <a:sym typeface="Times New Roman"/>
              </a:rPr>
              <a:t>Pithani Balasai Narasimha - 231010235</a:t>
            </a:r>
            <a:br>
              <a:rPr lang="en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91" name="Google Shape;91;p18"/>
          <p:cNvSpPr txBox="1"/>
          <p:nvPr/>
        </p:nvSpPr>
        <p:spPr>
          <a:xfrm>
            <a:off x="4221131" y="2612756"/>
            <a:ext cx="4447800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</a:t>
            </a:r>
            <a:endParaRPr sz="1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" sz="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Manoj Kumar Majumdar</a:t>
            </a:r>
            <a:r>
              <a:rPr lang="en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 sz="1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2257425" y="4869656"/>
            <a:ext cx="4504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7029844" y="2709300"/>
            <a:ext cx="18378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6648413" y="4015406"/>
            <a:ext cx="251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/>
        </p:nvSpPr>
        <p:spPr>
          <a:xfrm rot="1169">
            <a:off x="6648333" y="2788561"/>
            <a:ext cx="176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Date:-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r>
              <a:rPr lang="en" sz="1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r>
              <a:rPr lang="en" sz="1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433125" y="1097899"/>
            <a:ext cx="7872102" cy="348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95250" indent="0">
              <a:buNone/>
            </a:pPr>
            <a:endParaRPr lang="en-US" sz="800" dirty="0"/>
          </a:p>
          <a:p>
            <a:pPr marL="177800" lvl="0" indent="-177800">
              <a:spcBef>
                <a:spcPts val="0"/>
              </a:spcBef>
              <a:buSzPts val="1800"/>
              <a:buFont typeface="Times New Roman"/>
              <a:buChar char="●"/>
            </a:pPr>
            <a:endParaRPr sz="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96294" y="556463"/>
            <a:ext cx="80190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Times New Roman"/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C4B68B-DBB4-5ABE-C148-5EF7F1645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94" y="926931"/>
            <a:ext cx="8310577" cy="366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digital systems operate using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logic (0,1)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corresponding to two voltage states.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if we want to represent no. 8 in binary it becomes 1000 (four digits) or 255 in binary is 11111111 (eight digits).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computational complexity increases so we need to represent more bigger numbers which cause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Logic Implementation Challenges</a:t>
            </a:r>
            <a:r>
              <a:rPr lang="en-IN" sz="1200" dirty="0"/>
              <a:t>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Ternary Logic: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Ternary logic introduces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logic levels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(0,1,2),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lnSpc>
                <a:spcPct val="150000"/>
              </a:lnSpc>
            </a:pP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0 → Low</a:t>
            </a:r>
            <a:b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1 → Mid(VDD/2)</a:t>
            </a:r>
          </a:p>
          <a:p>
            <a:pPr marL="342900" lvl="0">
              <a:lnSpc>
                <a:spcPct val="150000"/>
              </a:lnSpc>
            </a:pP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2 → High</a:t>
            </a:r>
            <a:r>
              <a:rPr lang="en-US" sz="1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(VDD)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logic 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“</a:t>
            </a:r>
            <a:r>
              <a:rPr lang="en-US" alt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store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log₂(3) ≈ 1.585 bits of information, which means a 32-bit binary word can be represented using only ~21 ternary digits.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here the information density is more results in conventional reduction of complexities with increase in computation.</a:t>
            </a:r>
          </a:p>
        </p:txBody>
      </p:sp>
      <p:sp>
        <p:nvSpPr>
          <p:cNvPr id="3" name="Google Shape;130;p23">
            <a:extLst>
              <a:ext uri="{FF2B5EF4-FFF2-40B4-BE49-F238E27FC236}">
                <a16:creationId xmlns:a16="http://schemas.microsoft.com/office/drawing/2014/main" id="{7E185174-4EE4-94D2-55C6-8E3392F2BB21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54624" y="992426"/>
            <a:ext cx="7706442" cy="362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857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binary transistor is a switch ON or OFF, but a ternary circuit is a “multi-threshold circuit” , transistors that turn ON at different voltages so you can create three distinct logic levels.</a:t>
            </a:r>
          </a:p>
          <a:p>
            <a:pPr marL="2857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CMOS can’t be used for multi-threshold circuit.</a:t>
            </a:r>
          </a:p>
          <a:p>
            <a:pPr marL="2857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200" u="sng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Issues with CMOS :</a:t>
            </a:r>
          </a:p>
          <a:p>
            <a:pPr marL="11430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CMOS Body biasing (Fabrication)</a:t>
            </a: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CMOS scaling challenges: High leakage current, Power density issues, etc.</a:t>
            </a:r>
          </a:p>
          <a:p>
            <a:pPr marL="11430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this resulted in need for CNTFETs and GNRFETs.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54624" y="194615"/>
            <a:ext cx="7008300" cy="7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Times New Roman"/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sz="3500" dirty="0"/>
          </a:p>
        </p:txBody>
      </p:sp>
      <p:sp>
        <p:nvSpPr>
          <p:cNvPr id="129" name="Google Shape;129;p23"/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8789874" y="4857845"/>
            <a:ext cx="354126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fld id="{00000000-1234-1234-1234-123412341234}" type="slidenum">
              <a:rPr lang="en" sz="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556890" y="974172"/>
            <a:ext cx="7807206" cy="3601606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CNTFET and GNRFET operate on the same multi-threshold principle, hence both are suitable for ternary logic implementation. 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GNRFET offers superior material properties compared to CNTFETs: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Fracture strength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Carrier mobility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Thermal conductivity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Better fabrication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Better than CNTFET due to: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Smooth edges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Fewer defects, resulting in more reliable threshold voltage generation.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Graphene nanoribbons are naturally planar, making them more compatible with lithography, CMOS-style 	flat fabrication.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 lang="en" sz="12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endParaRPr sz="12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 dirty="0"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264265" y="6071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Introduction to GNRFET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A940E-0DEF-B3A1-3453-D03C7359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29" y="1656916"/>
            <a:ext cx="3027643" cy="1548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236027-DFCE-5F4B-05F8-94CE380DEB8F}"/>
              </a:ext>
            </a:extLst>
          </p:cNvPr>
          <p:cNvSpPr txBox="1"/>
          <p:nvPr/>
        </p:nvSpPr>
        <p:spPr>
          <a:xfrm>
            <a:off x="6730808" y="3320715"/>
            <a:ext cx="1120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Graphene </a:t>
            </a:r>
          </a:p>
        </p:txBody>
      </p:sp>
      <p:sp>
        <p:nvSpPr>
          <p:cNvPr id="8" name="Google Shape;130;p23">
            <a:extLst>
              <a:ext uri="{FF2B5EF4-FFF2-40B4-BE49-F238E27FC236}">
                <a16:creationId xmlns:a16="http://schemas.microsoft.com/office/drawing/2014/main" id="{3A59825E-A451-4F57-1BD9-D649138A0FEA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04;p19">
            <a:extLst>
              <a:ext uri="{FF2B5EF4-FFF2-40B4-BE49-F238E27FC236}">
                <a16:creationId xmlns:a16="http://schemas.microsoft.com/office/drawing/2014/main" id="{70DCA854-E2E1-9B2C-D979-A21FA6761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sp>
        <p:nvSpPr>
          <p:cNvPr id="10" name="Google Shape;129;p23">
            <a:extLst>
              <a:ext uri="{FF2B5EF4-FFF2-40B4-BE49-F238E27FC236}">
                <a16:creationId xmlns:a16="http://schemas.microsoft.com/office/drawing/2014/main" id="{371E763E-9AD2-146D-4799-1398437595A8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09153" y="788611"/>
            <a:ext cx="4972494" cy="2270847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GNRFET = Graphene Nanoribbon Field Effect Transistor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Based on graphene (2D carbon structure)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single layer of carbon atoms packed in a 2D honeycomb lattice.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n-channel GNRFET → doped with donors.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p-channel GNRFET → doped with acceptors.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Channel → undoped graphene</a:t>
            </a:r>
          </a:p>
          <a:p>
            <a:pPr marL="10160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Threshold voltage can be changed by changing the dimer lines.</a:t>
            </a: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256274" y="50076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GNRFET Structure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DC2B11C-902E-BDA4-5BA0-947395295ED7}"/>
              </a:ext>
            </a:extLst>
          </p:cNvPr>
          <p:cNvSpPr/>
          <p:nvPr/>
        </p:nvSpPr>
        <p:spPr>
          <a:xfrm>
            <a:off x="5534526" y="788612"/>
            <a:ext cx="2608448" cy="286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3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D5F389D1-E52C-FD7F-CBB2-2C8A204A9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432286"/>
              </p:ext>
            </p:extLst>
          </p:nvPr>
        </p:nvGraphicFramePr>
        <p:xfrm>
          <a:off x="5582653" y="1215128"/>
          <a:ext cx="2608448" cy="1356622"/>
        </p:xfrm>
        <a:graphic>
          <a:graphicData uri="http://schemas.openxmlformats.org/drawingml/2006/table">
            <a:tbl>
              <a:tblPr/>
              <a:tblGrid>
                <a:gridCol w="130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Voltage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ourier New" pitchFamily="34" charset="-122"/>
                          <a:cs typeface="Times New Roman" panose="02020603050405020304" pitchFamily="18" charset="0"/>
                        </a:rPr>
                        <a:t>Vth = Eg / 3e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ourier New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ourier New" pitchFamily="34" charset="-122"/>
                          <a:cs typeface="Times New Roman" panose="02020603050405020304" pitchFamily="18" charset="0"/>
                        </a:rPr>
                        <a:t>Eg = 2|α|ΔE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ourier New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diff.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ourier New" pitchFamily="34" charset="-122"/>
                          <a:cs typeface="Times New Roman" panose="02020603050405020304" pitchFamily="18" charset="0"/>
                        </a:rPr>
                        <a:t>ΔE = ℏvfπ / W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ourier New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GNR 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ourier New" pitchFamily="34" charset="-122"/>
                          <a:cs typeface="Times New Roman" panose="02020603050405020304" pitchFamily="18" charset="0"/>
                        </a:rPr>
                        <a:t>W = (n+1)·(√3/2)·a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ourier New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>
            <a:extLst>
              <a:ext uri="{FF2B5EF4-FFF2-40B4-BE49-F238E27FC236}">
                <a16:creationId xmlns:a16="http://schemas.microsoft.com/office/drawing/2014/main" id="{182AFDE4-67F8-50DA-7EC5-381643D181CA}"/>
              </a:ext>
            </a:extLst>
          </p:cNvPr>
          <p:cNvSpPr/>
          <p:nvPr/>
        </p:nvSpPr>
        <p:spPr>
          <a:xfrm>
            <a:off x="5534526" y="2908205"/>
            <a:ext cx="2608448" cy="286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 Lines → Threshold Voltage</a:t>
            </a:r>
            <a:endParaRPr lang="en-US" sz="1100" dirty="0"/>
          </a:p>
        </p:txBody>
      </p:sp>
      <p:graphicFrame>
        <p:nvGraphicFramePr>
          <p:cNvPr id="7" name="Table 1">
            <a:extLst>
              <a:ext uri="{FF2B5EF4-FFF2-40B4-BE49-F238E27FC236}">
                <a16:creationId xmlns:a16="http://schemas.microsoft.com/office/drawing/2014/main" id="{E2E0EF02-D24D-36A8-4229-D9227B5EE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85971"/>
              </p:ext>
            </p:extLst>
          </p:nvPr>
        </p:nvGraphicFramePr>
        <p:xfrm>
          <a:off x="5534526" y="3194717"/>
          <a:ext cx="2608448" cy="1331976"/>
        </p:xfrm>
        <a:graphic>
          <a:graphicData uri="http://schemas.openxmlformats.org/drawingml/2006/table">
            <a:tbl>
              <a:tblPr/>
              <a:tblGrid>
                <a:gridCol w="98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Dimer Lines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(nm)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Vth (V)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9564950-E1D8-6F8C-0544-B35B7527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50" y="3119090"/>
            <a:ext cx="3060342" cy="1624790"/>
          </a:xfrm>
          <a:prstGeom prst="rect">
            <a:avLst/>
          </a:prstGeom>
        </p:spPr>
      </p:pic>
      <p:sp>
        <p:nvSpPr>
          <p:cNvPr id="10" name="Google Shape;130;p23">
            <a:extLst>
              <a:ext uri="{FF2B5EF4-FFF2-40B4-BE49-F238E27FC236}">
                <a16:creationId xmlns:a16="http://schemas.microsoft.com/office/drawing/2014/main" id="{85D141D0-D881-E02C-E89C-F5E1CBE1807F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04;p19">
            <a:extLst>
              <a:ext uri="{FF2B5EF4-FFF2-40B4-BE49-F238E27FC236}">
                <a16:creationId xmlns:a16="http://schemas.microsoft.com/office/drawing/2014/main" id="{D246D191-48C2-7E0D-0427-9A9398DB94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12" name="Google Shape;129;p23">
            <a:extLst>
              <a:ext uri="{FF2B5EF4-FFF2-40B4-BE49-F238E27FC236}">
                <a16:creationId xmlns:a16="http://schemas.microsoft.com/office/drawing/2014/main" id="{9227B81B-257B-7E49-E83E-F4BFA1FE0327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46767" y="101279"/>
            <a:ext cx="7886700" cy="559899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Ternary Inverters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E5D3ABE-1F5D-9B04-CDED-A0375DCD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35" y="1732378"/>
            <a:ext cx="3203837" cy="239645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15655BF-5DA7-24DF-D9CF-E19EAB3D8E7A}"/>
              </a:ext>
            </a:extLst>
          </p:cNvPr>
          <p:cNvSpPr txBox="1"/>
          <p:nvPr/>
        </p:nvSpPr>
        <p:spPr>
          <a:xfrm>
            <a:off x="346766" y="767858"/>
            <a:ext cx="7410393" cy="387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STI — Standard</a:t>
            </a:r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IN=0→OUT=2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IN=1→OUT=1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IN=2→OUT=0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transistors (n=6,9,12), Diode-connected T2 &amp; T4 create the stable 0.45 V midpoint, full 3-level inversion.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PTI — Positive</a:t>
            </a:r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IN=0→OUT=2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IN=1→OUT=2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IN=2→OUT=0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transistors, NMOS n=6 (Vth=0.43V) + PMOS n=12 (Vth=0.23V).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NTI — Negative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IN=0→OUT=2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IN=1→OUT=0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IN=2→OUT=0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transistors, NMOS n=12 (Vth=0.23V + PMOS n=6 (Vth=0.43V).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8D1CA4-3AC6-3B5C-AC39-BEEBA6FC9B74}"/>
              </a:ext>
            </a:extLst>
          </p:cNvPr>
          <p:cNvSpPr txBox="1"/>
          <p:nvPr/>
        </p:nvSpPr>
        <p:spPr>
          <a:xfrm>
            <a:off x="7264408" y="4020185"/>
            <a:ext cx="1532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Ternary Inverters </a:t>
            </a:r>
          </a:p>
        </p:txBody>
      </p:sp>
      <p:sp>
        <p:nvSpPr>
          <p:cNvPr id="39" name="Google Shape;130;p23">
            <a:extLst>
              <a:ext uri="{FF2B5EF4-FFF2-40B4-BE49-F238E27FC236}">
                <a16:creationId xmlns:a16="http://schemas.microsoft.com/office/drawing/2014/main" id="{2AF29D75-1D07-4505-2261-C67231BE0370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04;p19">
            <a:extLst>
              <a:ext uri="{FF2B5EF4-FFF2-40B4-BE49-F238E27FC236}">
                <a16:creationId xmlns:a16="http://schemas.microsoft.com/office/drawing/2014/main" id="{7FDA1FD4-9672-C615-A6B4-806873F00E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sp>
        <p:nvSpPr>
          <p:cNvPr id="41" name="Google Shape;129;p23">
            <a:extLst>
              <a:ext uri="{FF2B5EF4-FFF2-40B4-BE49-F238E27FC236}">
                <a16:creationId xmlns:a16="http://schemas.microsoft.com/office/drawing/2014/main" id="{0E88E729-0372-C3FB-2D6A-6F4FADDEA208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95639" y="1131450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NAND Gate: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STI(min(A,B))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transistors, 3 width types (n=6, 9, 12)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NMOS network: SERIES (both inputs high → pull down)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PMOS network: PARALLEL (either input low → pull up)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Diode T2 (NMOS n=9) + T4 (PMOS n=9) create Logic 1 midpoint</a:t>
            </a:r>
          </a:p>
          <a:p>
            <a:pPr marL="342900" indent="-342900">
              <a:buSzPct val="1000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NOR GATE :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STI(max(A,B))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transistors — exact dual of NAND topology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NMOS network: PARALLEL (either input high → pull down)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PMOS network: SERIES (both inputs low → pull up)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</a:pPr>
            <a:r>
              <a:rPr lang="en-US" sz="1200" dirty="0">
                <a:solidFill>
                  <a:srgbClr val="1A2D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diode midpoint structure for Logic 1 stability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0F78C71-3316-2A6E-12A1-0500DF9D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92" y="99787"/>
            <a:ext cx="7649076" cy="993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1A2D6B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Ternary NAND &amp; NOR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6037C2-42D2-910D-E10E-C8A751E7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3"/>
          <a:stretch>
            <a:fillRect/>
          </a:stretch>
        </p:blipFill>
        <p:spPr>
          <a:xfrm>
            <a:off x="5474663" y="3051892"/>
            <a:ext cx="2599747" cy="14848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28762C-6296-AC67-3E29-0F6766D2F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86" t="22990" b="3761"/>
          <a:stretch>
            <a:fillRect/>
          </a:stretch>
        </p:blipFill>
        <p:spPr>
          <a:xfrm>
            <a:off x="5547102" y="1131728"/>
            <a:ext cx="2479430" cy="145401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5342EB1-88B1-44F4-389D-2B5E59079BDA}"/>
              </a:ext>
            </a:extLst>
          </p:cNvPr>
          <p:cNvSpPr txBox="1"/>
          <p:nvPr/>
        </p:nvSpPr>
        <p:spPr>
          <a:xfrm>
            <a:off x="6105089" y="2659477"/>
            <a:ext cx="1485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Ternary NAND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998E2C-18EC-A930-4B88-03FF9E5F0D85}"/>
              </a:ext>
            </a:extLst>
          </p:cNvPr>
          <p:cNvSpPr txBox="1"/>
          <p:nvPr/>
        </p:nvSpPr>
        <p:spPr>
          <a:xfrm>
            <a:off x="6176590" y="4574630"/>
            <a:ext cx="13421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Ternary NOR </a:t>
            </a:r>
          </a:p>
        </p:txBody>
      </p:sp>
      <p:sp>
        <p:nvSpPr>
          <p:cNvPr id="25" name="Google Shape;104;p19">
            <a:extLst>
              <a:ext uri="{FF2B5EF4-FFF2-40B4-BE49-F238E27FC236}">
                <a16:creationId xmlns:a16="http://schemas.microsoft.com/office/drawing/2014/main" id="{8C4BEC55-6CDB-3F66-86A9-A23C3DA45A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sp>
        <p:nvSpPr>
          <p:cNvPr id="26" name="Google Shape;130;p23">
            <a:extLst>
              <a:ext uri="{FF2B5EF4-FFF2-40B4-BE49-F238E27FC236}">
                <a16:creationId xmlns:a16="http://schemas.microsoft.com/office/drawing/2014/main" id="{6E14E425-D05E-22FA-2530-6E9F97242BAF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9;p23">
            <a:extLst>
              <a:ext uri="{FF2B5EF4-FFF2-40B4-BE49-F238E27FC236}">
                <a16:creationId xmlns:a16="http://schemas.microsoft.com/office/drawing/2014/main" id="{231C492C-EC88-3A6A-D40E-58E7BBF6DABA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85AEF98-356A-E5F5-6F51-B67C8287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>
            <a:extLst>
              <a:ext uri="{FF2B5EF4-FFF2-40B4-BE49-F238E27FC236}">
                <a16:creationId xmlns:a16="http://schemas.microsoft.com/office/drawing/2014/main" id="{FE305DB3-9D82-950B-124D-731ED47DF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3020" y="940050"/>
            <a:ext cx="3276457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lnSpc>
                <a:spcPct val="150000"/>
              </a:lnSpc>
              <a:buSzPct val="150000"/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Ternary Decoder</a:t>
            </a: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input → 3 outputs (a₀, a₁, a₂)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aₓ = 2 if input = x,  else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Gate composition: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1× PTI  (detects ≤ Logic 1)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1× NOR  (isolates exactly Logic 1)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1× NTI  (on PTI output → gives a₂)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SzPct val="100000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1× NTI  (on raw input → gives a₀)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3B7D6B7A-3470-6803-E256-CE9C6144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" y="61278"/>
            <a:ext cx="7886700" cy="993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dirty="0">
                <a:solidFill>
                  <a:srgbClr val="1A2D6B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Ternary Decoder and Half Adder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B95E2-9792-CB63-8065-D8B5640BC462}"/>
              </a:ext>
            </a:extLst>
          </p:cNvPr>
          <p:cNvSpPr txBox="1"/>
          <p:nvPr/>
        </p:nvSpPr>
        <p:spPr>
          <a:xfrm>
            <a:off x="4013907" y="1054552"/>
            <a:ext cx="3449167" cy="202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Ternary Half Adder: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decoders + AND + OR gates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Sum  =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a₂b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₀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a₁b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₁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a₀b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₂ + 1·(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a₁b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₀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a₀b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₁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a₂b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₂)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Carry = 1·(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a₂b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₁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a₂b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₂ +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a₁b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₂)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input combinations, verified against truth table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27 input combinations for full adder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30;p23">
            <a:extLst>
              <a:ext uri="{FF2B5EF4-FFF2-40B4-BE49-F238E27FC236}">
                <a16:creationId xmlns:a16="http://schemas.microsoft.com/office/drawing/2014/main" id="{8E0D7946-BBE4-0404-0BAD-22C4F0CF9296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BC0DEA59-580E-0964-65C8-083DF31969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5" name="Google Shape;129;p23">
            <a:extLst>
              <a:ext uri="{FF2B5EF4-FFF2-40B4-BE49-F238E27FC236}">
                <a16:creationId xmlns:a16="http://schemas.microsoft.com/office/drawing/2014/main" id="{184DBA80-38A0-8362-24DB-32D2F6887695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6B4512-5390-F70A-CAA3-8AAEE813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34" y="3229634"/>
            <a:ext cx="3276457" cy="13322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B6CA88-0D05-E839-EA29-831B12FEECFB}"/>
              </a:ext>
            </a:extLst>
          </p:cNvPr>
          <p:cNvSpPr txBox="1"/>
          <p:nvPr/>
        </p:nvSpPr>
        <p:spPr>
          <a:xfrm>
            <a:off x="4792765" y="4561879"/>
            <a:ext cx="4599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 : DECODER </a:t>
            </a:r>
          </a:p>
        </p:txBody>
      </p:sp>
    </p:spTree>
    <p:extLst>
      <p:ext uri="{BB962C8B-B14F-4D97-AF65-F5344CB8AC3E}">
        <p14:creationId xmlns:p14="http://schemas.microsoft.com/office/powerpoint/2010/main" val="181962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A49284A-AF7D-FCE5-62E2-B425FD9D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7940E6-CD74-8149-4282-18C87CA9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7" y="0"/>
            <a:ext cx="7886700" cy="994200"/>
          </a:xfrm>
        </p:spPr>
        <p:txBody>
          <a:bodyPr/>
          <a:lstStyle/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8EA3BC-F063-35BA-ED11-34C1D577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37" t="22078" b="6743"/>
          <a:stretch>
            <a:fillRect/>
          </a:stretch>
        </p:blipFill>
        <p:spPr>
          <a:xfrm>
            <a:off x="436883" y="872449"/>
            <a:ext cx="2793686" cy="1556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D2A677-13E3-7BA2-7D54-0927DAC4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54" t="23097" b="4459"/>
          <a:stretch>
            <a:fillRect/>
          </a:stretch>
        </p:blipFill>
        <p:spPr>
          <a:xfrm>
            <a:off x="4696853" y="874358"/>
            <a:ext cx="3123019" cy="1555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CF5F0E-EE70-FB3E-1B92-5EBCB19EB2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820" t="23068" b="5813"/>
          <a:stretch>
            <a:fillRect/>
          </a:stretch>
        </p:blipFill>
        <p:spPr>
          <a:xfrm>
            <a:off x="371778" y="2833360"/>
            <a:ext cx="2882038" cy="1622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C89BCF-5518-D90C-5C33-9B901C292C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120" r="2707" b="9371"/>
          <a:stretch>
            <a:fillRect/>
          </a:stretch>
        </p:blipFill>
        <p:spPr>
          <a:xfrm>
            <a:off x="4696861" y="2862597"/>
            <a:ext cx="3122994" cy="16859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0014BB-4602-5367-335D-76CE3DC2DFCD}"/>
              </a:ext>
            </a:extLst>
          </p:cNvPr>
          <p:cNvSpPr txBox="1"/>
          <p:nvPr/>
        </p:nvSpPr>
        <p:spPr>
          <a:xfrm>
            <a:off x="1292496" y="2543316"/>
            <a:ext cx="1485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6(a): STI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B8697-0E72-03B5-3816-6C127E197CD7}"/>
              </a:ext>
            </a:extLst>
          </p:cNvPr>
          <p:cNvSpPr txBox="1"/>
          <p:nvPr/>
        </p:nvSpPr>
        <p:spPr>
          <a:xfrm>
            <a:off x="1324145" y="4524913"/>
            <a:ext cx="1485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6(c) : NTI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44636-D158-DB91-B1F1-452D336E659D}"/>
              </a:ext>
            </a:extLst>
          </p:cNvPr>
          <p:cNvSpPr txBox="1"/>
          <p:nvPr/>
        </p:nvSpPr>
        <p:spPr>
          <a:xfrm>
            <a:off x="5846009" y="2571750"/>
            <a:ext cx="1485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6(b): PTI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2FFF36-2A96-286B-019A-7EFB7F6135F5}"/>
              </a:ext>
            </a:extLst>
          </p:cNvPr>
          <p:cNvSpPr txBox="1"/>
          <p:nvPr/>
        </p:nvSpPr>
        <p:spPr>
          <a:xfrm>
            <a:off x="5701792" y="4548555"/>
            <a:ext cx="2067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HALF ADDER </a:t>
            </a:r>
          </a:p>
        </p:txBody>
      </p:sp>
      <p:sp>
        <p:nvSpPr>
          <p:cNvPr id="20" name="Google Shape;130;p23">
            <a:extLst>
              <a:ext uri="{FF2B5EF4-FFF2-40B4-BE49-F238E27FC236}">
                <a16:creationId xmlns:a16="http://schemas.microsoft.com/office/drawing/2014/main" id="{EA981F65-DDC4-3C1E-709C-BB16DBADC7BB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4;p19">
            <a:extLst>
              <a:ext uri="{FF2B5EF4-FFF2-40B4-BE49-F238E27FC236}">
                <a16:creationId xmlns:a16="http://schemas.microsoft.com/office/drawing/2014/main" id="{0FA45A75-3C53-6050-25E9-C38C49358F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sp>
        <p:nvSpPr>
          <p:cNvPr id="22" name="Google Shape;129;p23">
            <a:extLst>
              <a:ext uri="{FF2B5EF4-FFF2-40B4-BE49-F238E27FC236}">
                <a16:creationId xmlns:a16="http://schemas.microsoft.com/office/drawing/2014/main" id="{2530EEA3-CD05-3D16-CAD9-180013B07B04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068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D75CEA4C-AAF7-D805-4B27-E755DED7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>
            <a:extLst>
              <a:ext uri="{FF2B5EF4-FFF2-40B4-BE49-F238E27FC236}">
                <a16:creationId xmlns:a16="http://schemas.microsoft.com/office/drawing/2014/main" id="{5F1B8631-D190-2A95-45FF-668B6EF16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310" y="7572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4263EC-F069-EDB1-B5D2-FA0922085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47547"/>
              </p:ext>
            </p:extLst>
          </p:nvPr>
        </p:nvGraphicFramePr>
        <p:xfrm>
          <a:off x="756272" y="1268044"/>
          <a:ext cx="7768961" cy="3150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78">
                  <a:extLst>
                    <a:ext uri="{9D8B030D-6E8A-4147-A177-3AD203B41FA5}">
                      <a16:colId xmlns:a16="http://schemas.microsoft.com/office/drawing/2014/main" val="2241048809"/>
                    </a:ext>
                  </a:extLst>
                </a:gridCol>
                <a:gridCol w="1806935">
                  <a:extLst>
                    <a:ext uri="{9D8B030D-6E8A-4147-A177-3AD203B41FA5}">
                      <a16:colId xmlns:a16="http://schemas.microsoft.com/office/drawing/2014/main" val="3397123480"/>
                    </a:ext>
                  </a:extLst>
                </a:gridCol>
                <a:gridCol w="1096996">
                  <a:extLst>
                    <a:ext uri="{9D8B030D-6E8A-4147-A177-3AD203B41FA5}">
                      <a16:colId xmlns:a16="http://schemas.microsoft.com/office/drawing/2014/main" val="351563766"/>
                    </a:ext>
                  </a:extLst>
                </a:gridCol>
                <a:gridCol w="847980">
                  <a:extLst>
                    <a:ext uri="{9D8B030D-6E8A-4147-A177-3AD203B41FA5}">
                      <a16:colId xmlns:a16="http://schemas.microsoft.com/office/drawing/2014/main" val="1258132306"/>
                    </a:ext>
                  </a:extLst>
                </a:gridCol>
                <a:gridCol w="895979">
                  <a:extLst>
                    <a:ext uri="{9D8B030D-6E8A-4147-A177-3AD203B41FA5}">
                      <a16:colId xmlns:a16="http://schemas.microsoft.com/office/drawing/2014/main" val="4113581591"/>
                    </a:ext>
                  </a:extLst>
                </a:gridCol>
                <a:gridCol w="978435">
                  <a:extLst>
                    <a:ext uri="{9D8B030D-6E8A-4147-A177-3AD203B41FA5}">
                      <a16:colId xmlns:a16="http://schemas.microsoft.com/office/drawing/2014/main" val="2265678838"/>
                    </a:ext>
                  </a:extLst>
                </a:gridCol>
                <a:gridCol w="1230658">
                  <a:extLst>
                    <a:ext uri="{9D8B030D-6E8A-4147-A177-3AD203B41FA5}">
                      <a16:colId xmlns:a16="http://schemas.microsoft.com/office/drawing/2014/main" val="2450394165"/>
                    </a:ext>
                  </a:extLst>
                </a:gridCol>
              </a:tblGrid>
              <a:tr h="9251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Delay (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Power (µW)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Delay (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Power (µW)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CNTFET Delay (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CNTFET Power (µW)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090916"/>
                  </a:ext>
                </a:extLst>
              </a:tr>
              <a:tr h="4450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98188"/>
                  </a:ext>
                </a:extLst>
              </a:tr>
              <a:tr h="4450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111673"/>
                  </a:ext>
                </a:extLst>
              </a:tr>
              <a:tr h="4450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062902"/>
                  </a:ext>
                </a:extLst>
              </a:tr>
              <a:tr h="4450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267016"/>
                  </a:ext>
                </a:extLst>
              </a:tr>
              <a:tr h="4450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137302"/>
                  </a:ext>
                </a:extLst>
              </a:tr>
            </a:tbl>
          </a:graphicData>
        </a:graphic>
      </p:graphicFrame>
      <p:sp>
        <p:nvSpPr>
          <p:cNvPr id="3" name="Google Shape;130;p23">
            <a:extLst>
              <a:ext uri="{FF2B5EF4-FFF2-40B4-BE49-F238E27FC236}">
                <a16:creationId xmlns:a16="http://schemas.microsoft.com/office/drawing/2014/main" id="{2B5766BB-7A8A-1671-5EAB-05F1C3573BA0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4;p19">
            <a:extLst>
              <a:ext uri="{FF2B5EF4-FFF2-40B4-BE49-F238E27FC236}">
                <a16:creationId xmlns:a16="http://schemas.microsoft.com/office/drawing/2014/main" id="{82B3B829-7ADC-05CA-F359-E9D3002135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020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D3F4C201-1304-FEAC-4503-9468BA5A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>
            <a:extLst>
              <a:ext uri="{FF2B5EF4-FFF2-40B4-BE49-F238E27FC236}">
                <a16:creationId xmlns:a16="http://schemas.microsoft.com/office/drawing/2014/main" id="{6DEA91A0-B0D5-EBCD-D27D-C97D2EA0E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173" y="0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03F0119C-E848-5F64-E529-66FFA0CA6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9249581"/>
              </p:ext>
            </p:extLst>
          </p:nvPr>
        </p:nvGraphicFramePr>
        <p:xfrm>
          <a:off x="473701" y="1158041"/>
          <a:ext cx="7549644" cy="3180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130;p23">
            <a:extLst>
              <a:ext uri="{FF2B5EF4-FFF2-40B4-BE49-F238E27FC236}">
                <a16:creationId xmlns:a16="http://schemas.microsoft.com/office/drawing/2014/main" id="{7E9978C1-4464-9964-AEAE-A790F19DD0E0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4;p19">
            <a:extLst>
              <a:ext uri="{FF2B5EF4-FFF2-40B4-BE49-F238E27FC236}">
                <a16:creationId xmlns:a16="http://schemas.microsoft.com/office/drawing/2014/main" id="{F7C8E491-680E-F579-0568-640532E863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sp>
        <p:nvSpPr>
          <p:cNvPr id="6" name="Google Shape;129;p23">
            <a:extLst>
              <a:ext uri="{FF2B5EF4-FFF2-40B4-BE49-F238E27FC236}">
                <a16:creationId xmlns:a16="http://schemas.microsoft.com/office/drawing/2014/main" id="{94470BC3-1969-DF8C-1669-53EA71907A71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805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233327" y="20862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Circuit Area Comparison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" name="Google Shape;149;p26"/>
          <p:cNvGraphicFramePr/>
          <p:nvPr>
            <p:extLst>
              <p:ext uri="{D42A27DB-BD31-4B8C-83A1-F6EECF244321}">
                <p14:modId xmlns:p14="http://schemas.microsoft.com/office/powerpoint/2010/main" val="2407981311"/>
              </p:ext>
            </p:extLst>
          </p:nvPr>
        </p:nvGraphicFramePr>
        <p:xfrm>
          <a:off x="365923" y="1106000"/>
          <a:ext cx="8059800" cy="2931500"/>
        </p:xfrm>
        <a:graphic>
          <a:graphicData uri="http://schemas.openxmlformats.org/drawingml/2006/table">
            <a:tbl>
              <a:tblPr>
                <a:noFill/>
                <a:tableStyleId>{02F62EFA-E7D3-4AEC-B6D9-3FF15D15D3ED}</a:tableStyleId>
              </a:tblPr>
              <a:tblGrid>
                <a:gridCol w="268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GNRFET Area (m²)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CNTFET Area (m²)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STI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2.35 × 10⁻¹⁶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6.85 × 10⁻¹⁶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PTI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7.84 × 10⁻¹⁷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21.79 × 10⁻¹⁷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NTI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7.84 × 10⁻¹⁷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21.79 × 10⁻¹⁷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Half Adder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2.92 × 10⁻¹⁵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7.81 × 10⁻¹⁵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22ED23A-6B6D-7E9D-534B-02E25FAED8AB}"/>
              </a:ext>
            </a:extLst>
          </p:cNvPr>
          <p:cNvSpPr txBox="1"/>
          <p:nvPr/>
        </p:nvSpPr>
        <p:spPr>
          <a:xfrm>
            <a:off x="99977" y="4376284"/>
            <a:ext cx="3306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41.3%  Lower Delay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0ABCB-D057-C502-EC1B-EB164A92ABFC}"/>
              </a:ext>
            </a:extLst>
          </p:cNvPr>
          <p:cNvSpPr txBox="1"/>
          <p:nvPr/>
        </p:nvSpPr>
        <p:spPr>
          <a:xfrm>
            <a:off x="2629932" y="4376285"/>
            <a:ext cx="3531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  Smaller Area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7A7C5-9F0B-65BB-8F81-2FACBC4801E3}"/>
              </a:ext>
            </a:extLst>
          </p:cNvPr>
          <p:cNvSpPr txBox="1"/>
          <p:nvPr/>
        </p:nvSpPr>
        <p:spPr>
          <a:xfrm>
            <a:off x="5658795" y="4376285"/>
            <a:ext cx="34852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7.8%  More Power</a:t>
            </a:r>
            <a:endParaRPr lang="en-US" sz="1400" dirty="0"/>
          </a:p>
        </p:txBody>
      </p:sp>
      <p:sp>
        <p:nvSpPr>
          <p:cNvPr id="8" name="Google Shape;130;p23">
            <a:extLst>
              <a:ext uri="{FF2B5EF4-FFF2-40B4-BE49-F238E27FC236}">
                <a16:creationId xmlns:a16="http://schemas.microsoft.com/office/drawing/2014/main" id="{6CF20938-317C-4888-E249-A5737C8AA97A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04;p19">
            <a:extLst>
              <a:ext uri="{FF2B5EF4-FFF2-40B4-BE49-F238E27FC236}">
                <a16:creationId xmlns:a16="http://schemas.microsoft.com/office/drawing/2014/main" id="{30BB0C3F-8F7D-9086-368F-A447C0117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10" name="Google Shape;129;p23">
            <a:extLst>
              <a:ext uri="{FF2B5EF4-FFF2-40B4-BE49-F238E27FC236}">
                <a16:creationId xmlns:a16="http://schemas.microsoft.com/office/drawing/2014/main" id="{C9EC8DE2-C467-4D60-F3D4-8CDF7EA4E313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258700" y="1164500"/>
            <a:ext cx="8256600" cy="3364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Design Methodology: Designed mentioned topologies for ternary logic gates (STI, PTI, NTI) and universal gates (NAND, NOR) using multi-threshold GNRFETs controlled by GNR width.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Fabrication Advantage </a:t>
            </a:r>
            <a:r>
              <a:rPr lang="en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GNRFET's planar structure ensures CMOS-compatible fabrication, high tensile strength, and smooth edge quality.</a:t>
            </a: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Circuit Design : Ternary Logic based half adder and designed verified, foundational blocks for complex arithmetic circuits.</a:t>
            </a:r>
            <a:endParaRPr sz="13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Achievements : </a:t>
            </a:r>
            <a:r>
              <a:rPr lang="en-US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verified correct against truth tables and metrics measurements</a:t>
            </a:r>
            <a:r>
              <a:rPr lang="en" sz="13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41.3% lower propagation delay, 64% smaller circuit area vs CNTFET — with only a marginal 7.8% increase in power dissipation.</a:t>
            </a:r>
            <a:endParaRPr sz="13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258700" y="172250"/>
            <a:ext cx="658914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0;p23">
            <a:extLst>
              <a:ext uri="{FF2B5EF4-FFF2-40B4-BE49-F238E27FC236}">
                <a16:creationId xmlns:a16="http://schemas.microsoft.com/office/drawing/2014/main" id="{71C127E1-5ED4-DBC7-27D9-12A81D1EDAA4}"/>
              </a:ext>
            </a:extLst>
          </p:cNvPr>
          <p:cNvSpPr txBox="1"/>
          <p:nvPr/>
        </p:nvSpPr>
        <p:spPr>
          <a:xfrm>
            <a:off x="2144315" y="4869656"/>
            <a:ext cx="4948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lang="en" sz="11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Institute of Information Technology, Naya Raipur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04;p19">
            <a:extLst>
              <a:ext uri="{FF2B5EF4-FFF2-40B4-BE49-F238E27FC236}">
                <a16:creationId xmlns:a16="http://schemas.microsoft.com/office/drawing/2014/main" id="{4D7A3698-ABEF-D33F-301B-B2DA0DE5E0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2331" y="4869656"/>
            <a:ext cx="148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sp>
        <p:nvSpPr>
          <p:cNvPr id="4" name="Google Shape;129;p23">
            <a:extLst>
              <a:ext uri="{FF2B5EF4-FFF2-40B4-BE49-F238E27FC236}">
                <a16:creationId xmlns:a16="http://schemas.microsoft.com/office/drawing/2014/main" id="{1EE1BF2F-7ED0-8347-19D4-E761BB524ADD}"/>
              </a:ext>
            </a:extLst>
          </p:cNvPr>
          <p:cNvSpPr txBox="1"/>
          <p:nvPr/>
        </p:nvSpPr>
        <p:spPr>
          <a:xfrm>
            <a:off x="200025" y="4918472"/>
            <a:ext cx="16575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</a:pPr>
            <a:r>
              <a:rPr lang="en" sz="900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28/04/26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1340</Words>
  <Application>Microsoft Office PowerPoint</Application>
  <PresentationFormat>On-screen Show (16:9)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Georgia</vt:lpstr>
      <vt:lpstr>Times New Roman</vt:lpstr>
      <vt:lpstr>Simple Light</vt:lpstr>
      <vt:lpstr>1_Office Theme</vt:lpstr>
      <vt:lpstr>2_Office Theme</vt:lpstr>
      <vt:lpstr>Design of Energy Efficient Ternary Logic Circuit Using GNRFETs </vt:lpstr>
      <vt:lpstr>Introduction </vt:lpstr>
      <vt:lpstr> Problem Statement</vt:lpstr>
      <vt:lpstr>Introduction to GNRFET</vt:lpstr>
      <vt:lpstr>GNRFET Structure</vt:lpstr>
      <vt:lpstr>Types of Ternary Inverters</vt:lpstr>
      <vt:lpstr>Ternary NAND &amp; NOR</vt:lpstr>
      <vt:lpstr>Ternary Decoder and Half Adder</vt:lpstr>
      <vt:lpstr>Simulation results</vt:lpstr>
      <vt:lpstr>Performance Analysis</vt:lpstr>
      <vt:lpstr>Performance Analysis</vt:lpstr>
      <vt:lpstr>Circuit Area Comparison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NAVNEETH K</cp:lastModifiedBy>
  <cp:revision>6</cp:revision>
  <dcterms:modified xsi:type="dcterms:W3CDTF">2026-04-29T18:46:46Z</dcterms:modified>
</cp:coreProperties>
</file>